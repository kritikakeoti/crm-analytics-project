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6" r:id="rId1"/>
  </p:sldMasterIdLst>
  <p:notesMasterIdLst>
    <p:notesMasterId r:id="rId19"/>
  </p:notesMasterIdLst>
  <p:handoutMasterIdLst>
    <p:handoutMasterId r:id="rId20"/>
  </p:handoutMasterIdLst>
  <p:sldIdLst>
    <p:sldId id="256" r:id="rId2"/>
    <p:sldId id="264" r:id="rId3"/>
    <p:sldId id="270" r:id="rId4"/>
    <p:sldId id="275" r:id="rId5"/>
    <p:sldId id="260" r:id="rId6"/>
    <p:sldId id="258" r:id="rId7"/>
    <p:sldId id="262" r:id="rId8"/>
    <p:sldId id="271" r:id="rId9"/>
    <p:sldId id="267" r:id="rId10"/>
    <p:sldId id="266" r:id="rId11"/>
    <p:sldId id="274" r:id="rId12"/>
    <p:sldId id="261" r:id="rId13"/>
    <p:sldId id="259" r:id="rId14"/>
    <p:sldId id="263" r:id="rId15"/>
    <p:sldId id="272" r:id="rId16"/>
    <p:sldId id="268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5507AB3-070B-70AF-05C5-D194D8A877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22FADC-95DE-F805-6F9A-C126A3EF03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B4732E-A0D8-4EEA-BD77-1EBFBF07685A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448266-5B2C-35CE-D415-24BBC512FF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17809B-327D-1FD7-0CC3-DAB6DAF4C0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93177D-0219-4D01-BDBD-630BA4C2D6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84883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0D7DE6-0302-4760-84B9-7A04284F7D29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D39E30-FE56-419A-AE17-C3E950F51E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4214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616A2-CBE9-4454-B86B-43F2490EC1A1}" type="datetime1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2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E5F3-7E07-4327-9C42-98C7C8FCE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84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3795" y="6492875"/>
            <a:ext cx="6672865" cy="365125"/>
          </a:xfrm>
        </p:spPr>
        <p:txBody>
          <a:bodyPr/>
          <a:lstStyle/>
          <a:p>
            <a:r>
              <a:rPr lang="en-US"/>
              <a:t>Project by Group 2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24660" y="6492874"/>
            <a:ext cx="753545" cy="365125"/>
          </a:xfrm>
        </p:spPr>
        <p:txBody>
          <a:bodyPr/>
          <a:lstStyle/>
          <a:p>
            <a:fld id="{D81FE5F3-7E07-4327-9C42-98C7C8FCEC6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664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6D8D1-7E9E-45A6-98A0-400ECA3E4CFB}" type="datetime1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2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E5F3-7E07-4327-9C42-98C7C8FCE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29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830E4-3A07-4642-8BA4-10F91A63AEE5}" type="datetime1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2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E5F3-7E07-4327-9C42-98C7C8FCE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287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FD1F1-FEEC-43A2-98F1-4D3501F7689E}" type="datetime1">
              <a:rPr lang="en-IN" smtClean="0"/>
              <a:t>09-05-2026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2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E5F3-7E07-4327-9C42-98C7C8FCE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666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73422-3A01-4441-9E80-DCFC55B328FD}" type="datetime1">
              <a:rPr lang="en-IN" smtClean="0"/>
              <a:t>09-05-2026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2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E5F3-7E07-4327-9C42-98C7C8FCE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163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C7AF6-548B-44CE-96BC-A3928D08CC58}" type="datetime1">
              <a:rPr lang="en-IN" smtClean="0"/>
              <a:t>09-05-2026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2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E5F3-7E07-4327-9C42-98C7C8FCE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178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944B2-E1A6-4295-8421-B6A20546D689}" type="datetime1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2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E5F3-7E07-4327-9C42-98C7C8FCE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523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A623B-76E0-4D44-9EF8-C1A2A732B253}" type="datetime1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2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E5F3-7E07-4327-9C42-98C7C8FCE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0591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A7DBE-CC02-4FCA-B938-C14498B31000}" type="datetime1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2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E5F3-7E07-4327-9C42-98C7C8FCE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135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880A6-164D-4495-AF4D-DD840C921448}" type="datetime1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2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E5F3-7E07-4327-9C42-98C7C8FCE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940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DF0C6-2CBF-4571-80CC-FDD7AA627353}" type="datetime1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2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E5F3-7E07-4327-9C42-98C7C8FCEC6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954105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6C213-8E02-4787-86EF-0A497D6D8E86}" type="datetime1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2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E5F3-7E07-4327-9C42-98C7C8FCE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9450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FFD4-6AC4-403D-97DB-845E774A6C50}" type="datetime1">
              <a:rPr lang="en-IN" smtClean="0"/>
              <a:t>09-05-2026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2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E5F3-7E07-4327-9C42-98C7C8FCE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4531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5A2A-9A39-4E49-ACBD-BBC9294CAEF4}" type="datetime1">
              <a:rPr lang="en-IN" smtClean="0"/>
              <a:t>09-05-2026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2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E5F3-7E07-4327-9C42-98C7C8FCE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7510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BBFBA-E8C8-46BC-932F-7BF91B2C15B6}" type="datetime1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2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E5F3-7E07-4327-9C42-98C7C8FCE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3044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80570-BFE0-4B04-B4EB-AAFA233D756D}" type="datetime1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2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E5F3-7E07-4327-9C42-98C7C8FCE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283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D5D507F-7F3D-448C-9928-E5E802997B26}" type="datetime1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r>
              <a:rPr lang="en-US"/>
              <a:t>Project by Group 2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81FE5F3-7E07-4327-9C42-98C7C8FCE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7161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AC18B-AAB3-EF09-40EE-C0DA3E8E10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183047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CRM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6EAB34-0E69-8E79-6FB2-C52EFB4E28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8710" y="3561506"/>
            <a:ext cx="9144000" cy="1655762"/>
          </a:xfrm>
        </p:spPr>
        <p:txBody>
          <a:bodyPr>
            <a:normAutofit fontScale="92500" lnSpcReduction="20000"/>
          </a:bodyPr>
          <a:lstStyle/>
          <a:p>
            <a:r>
              <a:rPr lang="en-IN" sz="2600" b="1" dirty="0"/>
              <a:t>DA_P1258 CRM Analytics Project by</a:t>
            </a:r>
          </a:p>
          <a:p>
            <a:r>
              <a:rPr lang="en-IN" sz="2600" b="1" dirty="0"/>
              <a:t>Group 2 – Pallekonda Kiran and Kritika Rajesh Keoti</a:t>
            </a:r>
          </a:p>
          <a:p>
            <a:endParaRPr lang="en-IN" sz="2400" b="1" dirty="0"/>
          </a:p>
          <a:p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Tools used : Excel, Tableau, PowerBI and SQL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4EB34D-DAB9-470D-1985-231FD0826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412" y="517292"/>
            <a:ext cx="3043006" cy="10275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455DE0-6C33-3872-AA1C-67D8F7F3C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5148" y="5217268"/>
            <a:ext cx="638264" cy="6096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8F8E32-4E0A-007D-84FC-3E86EE475E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138" y="5198215"/>
            <a:ext cx="1409897" cy="6477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575BEF-957A-261C-11DB-50BD8B7D63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4246" y="5217268"/>
            <a:ext cx="1686160" cy="6763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FD9DA7F-DAFD-312B-3C93-B03C9945524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370" t="2517" r="5934" b="8175"/>
          <a:stretch>
            <a:fillRect/>
          </a:stretch>
        </p:blipFill>
        <p:spPr>
          <a:xfrm>
            <a:off x="8127617" y="5217268"/>
            <a:ext cx="718210" cy="67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019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8ED09-3EAC-0A0F-2B5C-DB575F4F8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200" b="1" dirty="0">
                <a:solidFill>
                  <a:schemeClr val="tx1"/>
                </a:solidFill>
              </a:rPr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C61B2-ADAD-5E6C-4D54-2F796FA61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IN" sz="2200" dirty="0">
                <a:solidFill>
                  <a:schemeClr val="tx1"/>
                </a:solidFill>
              </a:rPr>
              <a:t>To analyze CRM data for leads and opportunities.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200" dirty="0">
                <a:solidFill>
                  <a:schemeClr val="tx1"/>
                </a:solidFill>
              </a:rPr>
              <a:t>To track conversion and performance.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200" dirty="0">
                <a:solidFill>
                  <a:schemeClr val="tx1"/>
                </a:solidFill>
              </a:rPr>
              <a:t>To identify trends over time and improve decision-making.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200" dirty="0">
                <a:solidFill>
                  <a:schemeClr val="tx1"/>
                </a:solidFill>
              </a:rPr>
              <a:t>To understand distribution of leads and revenue on basis of sources, industries, stages, etc.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200" dirty="0">
                <a:solidFill>
                  <a:schemeClr val="tx1"/>
                </a:solidFill>
              </a:rPr>
              <a:t>To create interactive dashboards using Excel, Tableau and PowerBI.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200" dirty="0">
                <a:solidFill>
                  <a:schemeClr val="tx1"/>
                </a:solidFill>
              </a:rPr>
              <a:t>To use SQL queries for KPI calculation.</a:t>
            </a:r>
          </a:p>
          <a:p>
            <a:pPr marL="0" indent="0">
              <a:buNone/>
            </a:pPr>
            <a:endParaRPr lang="en-IN" sz="2200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C17DD-9533-B79B-8C3F-EC20382E9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E5F3-7E07-4327-9C42-98C7C8FCEC64}" type="slidenum">
              <a:rPr lang="en-IN" smtClean="0"/>
              <a:t>2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A5688AB-5A49-F6A9-543D-A9E295987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Project by Group 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6239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8C10D-5903-1863-73A9-E2A2F97D6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2F552-FB3A-4313-9B46-FFFC1D114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821635"/>
          </a:xfrm>
        </p:spPr>
        <p:txBody>
          <a:bodyPr>
            <a:normAutofit/>
          </a:bodyPr>
          <a:lstStyle/>
          <a:p>
            <a:pPr algn="l"/>
            <a:r>
              <a:rPr lang="en-IN" sz="3200" b="1" dirty="0">
                <a:solidFill>
                  <a:schemeClr val="tx1"/>
                </a:solidFill>
              </a:rPr>
              <a:t>KPIs for Lead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70AF7-5103-20CD-03EB-B053DEC35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310542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1800" b="1" dirty="0">
                <a:solidFill>
                  <a:schemeClr val="tx1"/>
                </a:solidFill>
              </a:rPr>
              <a:t>Total Leads – </a:t>
            </a:r>
            <a:r>
              <a:rPr lang="en-US" sz="1800" dirty="0">
                <a:solidFill>
                  <a:schemeClr val="tx1"/>
                </a:solidFill>
              </a:rPr>
              <a:t>Total number of leads generated.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>
                <a:solidFill>
                  <a:schemeClr val="tx1"/>
                </a:solidFill>
              </a:rPr>
              <a:t>Expected Amount from Converted Leads – </a:t>
            </a:r>
            <a:r>
              <a:rPr lang="en-US" sz="1800" dirty="0">
                <a:solidFill>
                  <a:schemeClr val="tx1"/>
                </a:solidFill>
              </a:rPr>
              <a:t>Total expected revenue from leads that have been converted.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>
                <a:solidFill>
                  <a:schemeClr val="tx1"/>
                </a:solidFill>
              </a:rPr>
              <a:t>Conversion Rate – </a:t>
            </a:r>
            <a:r>
              <a:rPr lang="en-US" sz="1800" dirty="0">
                <a:solidFill>
                  <a:schemeClr val="tx1"/>
                </a:solidFill>
              </a:rPr>
              <a:t>Percentage of leads that are converted out of the total leads.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>
                <a:solidFill>
                  <a:schemeClr val="tx1"/>
                </a:solidFill>
              </a:rPr>
              <a:t>Converted Accounts – </a:t>
            </a:r>
            <a:r>
              <a:rPr lang="en-US" sz="1800" dirty="0">
                <a:solidFill>
                  <a:schemeClr val="tx1"/>
                </a:solidFill>
              </a:rPr>
              <a:t>Number of leads that have been converted into accounts.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>
                <a:solidFill>
                  <a:schemeClr val="tx1"/>
                </a:solidFill>
              </a:rPr>
              <a:t>Converted Opportunities </a:t>
            </a:r>
            <a:r>
              <a:rPr lang="en-US" sz="1800" dirty="0">
                <a:solidFill>
                  <a:schemeClr val="tx1"/>
                </a:solidFill>
              </a:rPr>
              <a:t>– Number of leads that have been converted into opportunities.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>
                <a:solidFill>
                  <a:schemeClr val="tx1"/>
                </a:solidFill>
              </a:rPr>
              <a:t>Lead By Source – </a:t>
            </a:r>
            <a:r>
              <a:rPr lang="en-US" sz="1800" dirty="0">
                <a:solidFill>
                  <a:schemeClr val="tx1"/>
                </a:solidFill>
              </a:rPr>
              <a:t>Distribution of leads based on their source.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>
                <a:solidFill>
                  <a:schemeClr val="tx1"/>
                </a:solidFill>
              </a:rPr>
              <a:t>Lead By industry – </a:t>
            </a:r>
            <a:r>
              <a:rPr lang="en-US" sz="1800" dirty="0">
                <a:solidFill>
                  <a:schemeClr val="tx1"/>
                </a:solidFill>
              </a:rPr>
              <a:t>Distribution of leads across various industries.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>
                <a:solidFill>
                  <a:schemeClr val="tx1"/>
                </a:solidFill>
              </a:rPr>
              <a:t>Lead by Stage – </a:t>
            </a:r>
            <a:r>
              <a:rPr lang="en-US" sz="1800" dirty="0">
                <a:solidFill>
                  <a:schemeClr val="tx1"/>
                </a:solidFill>
              </a:rPr>
              <a:t>Breakdown of leads across various stages of the funnel.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>
                <a:solidFill>
                  <a:schemeClr val="tx1"/>
                </a:solidFill>
              </a:rPr>
              <a:t>Trend Analysis – </a:t>
            </a:r>
            <a:r>
              <a:rPr lang="en-US" sz="1800" dirty="0">
                <a:solidFill>
                  <a:schemeClr val="tx1"/>
                </a:solidFill>
              </a:rPr>
              <a:t>Shows how the number of leads changes over time.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1800" b="1" dirty="0"/>
          </a:p>
          <a:p>
            <a:pPr>
              <a:buFont typeface="Courier New" panose="02070309020205020404" pitchFamily="49" charset="0"/>
              <a:buChar char="o"/>
            </a:pPr>
            <a:endParaRPr lang="en-US" sz="18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C319D-2E58-E4EB-7BDE-383558327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E5F3-7E07-4327-9C42-98C7C8FCEC64}" type="slidenum">
              <a:rPr lang="en-IN" smtClean="0"/>
              <a:t>3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677F868-54D1-7561-1D4A-49EA917EF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2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014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AADA9-B29F-3588-B006-112EA8C29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26774"/>
            <a:ext cx="10353762" cy="685919"/>
          </a:xfrm>
        </p:spPr>
        <p:txBody>
          <a:bodyPr>
            <a:normAutofit/>
          </a:bodyPr>
          <a:lstStyle/>
          <a:p>
            <a:pPr algn="l"/>
            <a:r>
              <a:rPr lang="en-IN" sz="3200" b="1" dirty="0">
                <a:solidFill>
                  <a:schemeClr val="tx1"/>
                </a:solidFill>
              </a:rPr>
              <a:t>Lead data Visualizations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2CA00D-B3D3-A56F-A62A-5D4C93B41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2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1E9468-5999-EA8D-199D-A8AA98EEB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E5F3-7E07-4327-9C42-98C7C8FCEC64}" type="slidenum">
              <a:rPr lang="en-IN" smtClean="0"/>
              <a:pPr/>
              <a:t>4</a:t>
            </a:fld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8E6D39-6DAF-8375-D239-406FFFA7A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394" y="3555040"/>
            <a:ext cx="3511704" cy="27819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9F36E9-F662-CF1C-3835-71028DD31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170" y="1375171"/>
            <a:ext cx="4979506" cy="19277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F4D6630-202F-82B7-3BA6-2B0419DBA68C}"/>
              </a:ext>
            </a:extLst>
          </p:cNvPr>
          <p:cNvSpPr txBox="1"/>
          <p:nvPr/>
        </p:nvSpPr>
        <p:spPr>
          <a:xfrm>
            <a:off x="6705910" y="1831235"/>
            <a:ext cx="47807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This line chart shows growth of leads generated across the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Highest lead generation is seen in 2021.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4D0F86-6859-A8B6-8370-122DACE3C5CB}"/>
              </a:ext>
            </a:extLst>
          </p:cNvPr>
          <p:cNvSpPr txBox="1"/>
          <p:nvPr/>
        </p:nvSpPr>
        <p:spPr>
          <a:xfrm>
            <a:off x="6705910" y="4321868"/>
            <a:ext cx="49795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In this visualization, status distribution helps track the progress of leads.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Leads are spread across different stages of the process. </a:t>
            </a:r>
          </a:p>
        </p:txBody>
      </p:sp>
    </p:spTree>
    <p:extLst>
      <p:ext uri="{BB962C8B-B14F-4D97-AF65-F5344CB8AC3E}">
        <p14:creationId xmlns:p14="http://schemas.microsoft.com/office/powerpoint/2010/main" val="1259994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3E536-418B-6ABE-47CB-14AA81445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8788"/>
          </a:xfrm>
        </p:spPr>
        <p:txBody>
          <a:bodyPr>
            <a:normAutofit/>
          </a:bodyPr>
          <a:lstStyle/>
          <a:p>
            <a:pPr algn="l"/>
            <a:r>
              <a:rPr lang="en-IN" sz="2900" b="1" dirty="0">
                <a:solidFill>
                  <a:schemeClr val="tx1"/>
                </a:solidFill>
              </a:rPr>
              <a:t>Lead Dashboard using Excel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8A6A6-B683-A638-AD5B-5C6F6F02E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E5F3-7E07-4327-9C42-98C7C8FCEC64}" type="slidenum">
              <a:rPr lang="en-IN" smtClean="0"/>
              <a:t>5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E817EBD-5E73-655D-2812-E6574584F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2</a:t>
            </a:r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8508CE-AA2A-E1AE-2248-792F1DA40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78" y="1066800"/>
            <a:ext cx="11320670" cy="5065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215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2D9FD-B63D-9173-2F05-395E251E5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59213"/>
          </a:xfrm>
        </p:spPr>
        <p:txBody>
          <a:bodyPr>
            <a:normAutofit fontScale="90000"/>
          </a:bodyPr>
          <a:lstStyle/>
          <a:p>
            <a:pPr algn="l"/>
            <a:r>
              <a:rPr lang="en-IN" sz="3200" b="1" dirty="0">
                <a:solidFill>
                  <a:schemeClr val="tx1"/>
                </a:solidFill>
              </a:rPr>
              <a:t>Lead Dashboard using Tableau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5F06DD8-93C6-B1E5-D978-71FCE81AF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385DFB-E2C2-F01B-7BCC-530C3FB3B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41" y="962466"/>
            <a:ext cx="10863470" cy="559871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4EBF1-544F-554C-CCBA-52D16E194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E5F3-7E07-4327-9C42-98C7C8FCEC64}" type="slidenum">
              <a:rPr lang="en-IN" smtClean="0"/>
              <a:t>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15E0E-2A39-C01B-7AAB-007107985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2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593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890C1-4DA8-1046-6A1E-EE558F014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pPr algn="l"/>
            <a:r>
              <a:rPr lang="en-IN" sz="2900" b="1" dirty="0">
                <a:solidFill>
                  <a:schemeClr val="tx1"/>
                </a:solidFill>
              </a:rPr>
              <a:t>Lead Dashboard using PowerBI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B15FA5-2279-3739-D28E-3F2E7ACF4B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904475"/>
            <a:ext cx="10515600" cy="55884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313D5-A912-541E-E02A-38D8F31D4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E5F3-7E07-4327-9C42-98C7C8FCEC64}" type="slidenum">
              <a:rPr lang="en-IN" smtClean="0"/>
              <a:t>7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64DA86E-90BA-7CE2-69DB-DE14EA8D4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2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58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03C08-7D8E-9547-119E-C9D78A982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801757"/>
          </a:xfrm>
        </p:spPr>
        <p:txBody>
          <a:bodyPr>
            <a:normAutofit/>
          </a:bodyPr>
          <a:lstStyle/>
          <a:p>
            <a:pPr algn="l"/>
            <a:r>
              <a:rPr lang="en-IN" sz="3200" b="1" dirty="0">
                <a:solidFill>
                  <a:schemeClr val="tx1"/>
                </a:solidFill>
              </a:rPr>
              <a:t>SQL Queries for Lead data KPIs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C06C4B4-62DE-10AE-9C86-61A13B5D80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5014" y="1898374"/>
            <a:ext cx="7210199" cy="381590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A3BD09-47CE-DBCF-A202-072ABF3EF2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65"/>
          <a:stretch>
            <a:fillRect/>
          </a:stretch>
        </p:blipFill>
        <p:spPr>
          <a:xfrm>
            <a:off x="7852621" y="1898374"/>
            <a:ext cx="3864365" cy="3815904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875DFD2-8E41-6208-C302-74973E769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E5F3-7E07-4327-9C42-98C7C8FCEC64}" type="slidenum">
              <a:rPr lang="en-IN" smtClean="0"/>
              <a:t>8</a:t>
            </a:fld>
            <a:endParaRPr lang="en-IN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882D806-43B0-5169-3092-54747309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2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7039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ACF45-47B8-41AF-5179-425D5BF78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200" b="1" dirty="0">
                <a:solidFill>
                  <a:schemeClr val="tx1"/>
                </a:solidFill>
              </a:rPr>
              <a:t>Key Insights from the Lead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063A2-4217-5B60-3671-C93A4FA42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IN" sz="2200" dirty="0">
                <a:solidFill>
                  <a:schemeClr val="tx1"/>
                </a:solidFill>
              </a:rPr>
              <a:t>Lead generation shows an increasing trend.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200" dirty="0">
                <a:solidFill>
                  <a:schemeClr val="tx1"/>
                </a:solidFill>
              </a:rPr>
              <a:t>Conversion Rate is relatively low compared to total leads.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200" dirty="0">
                <a:solidFill>
                  <a:schemeClr val="tx1"/>
                </a:solidFill>
              </a:rPr>
              <a:t>Inside sales and Website sources contribute more leads than others.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200" dirty="0">
                <a:solidFill>
                  <a:schemeClr val="tx1"/>
                </a:solidFill>
              </a:rPr>
              <a:t>The Safety and Security industry generates highest number of leads, followed by Life Sciences.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200" dirty="0">
                <a:solidFill>
                  <a:schemeClr val="tx1"/>
                </a:solidFill>
              </a:rPr>
              <a:t>Majority of leads are in the nurturing stage.</a:t>
            </a:r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99E19-73AA-B80D-2C0A-785471E08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E5F3-7E07-4327-9C42-98C7C8FCEC64}" type="slidenum">
              <a:rPr lang="en-IN" smtClean="0"/>
              <a:t>9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5E76503-1B23-B8F2-E571-5E08B6BC9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2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72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C192-9744-194A-8ABC-F05B5C238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821635"/>
          </a:xfrm>
        </p:spPr>
        <p:txBody>
          <a:bodyPr>
            <a:normAutofit/>
          </a:bodyPr>
          <a:lstStyle/>
          <a:p>
            <a:pPr algn="l"/>
            <a:r>
              <a:rPr lang="en-IN" sz="3200" b="1" dirty="0">
                <a:solidFill>
                  <a:schemeClr val="tx1"/>
                </a:solidFill>
              </a:rPr>
              <a:t>KPIs for Opportunity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B83CE-0459-C6BE-0BAA-6D35F78BD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310542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IN" sz="1800" b="1" dirty="0">
                <a:solidFill>
                  <a:schemeClr val="tx1"/>
                </a:solidFill>
              </a:rPr>
              <a:t>Expected Amount </a:t>
            </a:r>
            <a:r>
              <a:rPr lang="en-IN" sz="1800" dirty="0">
                <a:solidFill>
                  <a:schemeClr val="tx1"/>
                </a:solidFill>
              </a:rPr>
              <a:t>– Total expected revenue from all opportunities.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800" b="1" dirty="0">
                <a:solidFill>
                  <a:schemeClr val="tx1"/>
                </a:solidFill>
              </a:rPr>
              <a:t>Active Opportunities </a:t>
            </a:r>
            <a:r>
              <a:rPr lang="en-IN" sz="1800" dirty="0">
                <a:solidFill>
                  <a:schemeClr val="tx1"/>
                </a:solidFill>
              </a:rPr>
              <a:t>– Number of open opportunities that are still in progress.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800" b="1" dirty="0">
                <a:solidFill>
                  <a:schemeClr val="tx1"/>
                </a:solidFill>
              </a:rPr>
              <a:t>Win Rate </a:t>
            </a:r>
            <a:r>
              <a:rPr lang="en-IN" sz="1800" dirty="0">
                <a:solidFill>
                  <a:schemeClr val="tx1"/>
                </a:solidFill>
              </a:rPr>
              <a:t>– Percentage of opportunities that have been successfully closed as won.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800" b="1" dirty="0">
                <a:solidFill>
                  <a:schemeClr val="tx1"/>
                </a:solidFill>
              </a:rPr>
              <a:t>Loss Rate</a:t>
            </a:r>
            <a:r>
              <a:rPr lang="en-IN" sz="1800" dirty="0">
                <a:solidFill>
                  <a:schemeClr val="tx1"/>
                </a:solidFill>
              </a:rPr>
              <a:t> – Percentage of opportunities that have been closed as lost.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800" b="1" dirty="0">
                <a:solidFill>
                  <a:schemeClr val="tx1"/>
                </a:solidFill>
              </a:rPr>
              <a:t>Opportunities by Industry </a:t>
            </a:r>
            <a:r>
              <a:rPr lang="en-IN" sz="1800" dirty="0">
                <a:solidFill>
                  <a:schemeClr val="tx1"/>
                </a:solidFill>
              </a:rPr>
              <a:t>– Distribution of opportunities across various industries.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800" b="1" dirty="0">
                <a:solidFill>
                  <a:schemeClr val="tx1"/>
                </a:solidFill>
              </a:rPr>
              <a:t>Expected vs. Forecast </a:t>
            </a:r>
            <a:r>
              <a:rPr lang="en-IN" sz="1800" dirty="0">
                <a:solidFill>
                  <a:schemeClr val="tx1"/>
                </a:solidFill>
              </a:rPr>
              <a:t>– Comparison between expected revenue and forecasted revenue.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800" b="1" dirty="0">
                <a:solidFill>
                  <a:schemeClr val="tx1"/>
                </a:solidFill>
              </a:rPr>
              <a:t>Active vs. Total Opportunities</a:t>
            </a:r>
            <a:r>
              <a:rPr lang="en-IN" sz="1800" dirty="0">
                <a:solidFill>
                  <a:schemeClr val="tx1"/>
                </a:solidFill>
              </a:rPr>
              <a:t> – Proportion of open opportunities compared to the total opportunities.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800" b="1" dirty="0">
                <a:solidFill>
                  <a:schemeClr val="tx1"/>
                </a:solidFill>
              </a:rPr>
              <a:t>Closed Won vs Lost </a:t>
            </a:r>
            <a:r>
              <a:rPr lang="en-IN" sz="1800" dirty="0">
                <a:solidFill>
                  <a:schemeClr val="tx1"/>
                </a:solidFill>
              </a:rPr>
              <a:t>– Comparison of opportunities successfully won with those that were lost.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800" b="1" dirty="0">
                <a:solidFill>
                  <a:schemeClr val="tx1"/>
                </a:solidFill>
              </a:rPr>
              <a:t>Trend Analysis </a:t>
            </a:r>
            <a:r>
              <a:rPr lang="en-IN" sz="1800" dirty="0">
                <a:solidFill>
                  <a:schemeClr val="tx1"/>
                </a:solidFill>
              </a:rPr>
              <a:t>– Shows how opportunities or revenue changes over time.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0DFC3-1EA7-773A-8758-268BDC801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E5F3-7E07-4327-9C42-98C7C8FCEC64}" type="slidenum">
              <a:rPr lang="en-IN" smtClean="0"/>
              <a:t>10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4B300A3-8D42-BDD0-E5FF-BA0C9B61B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2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318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95EB7-C343-EF4A-A67C-A7883E1F3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26775"/>
            <a:ext cx="10353762" cy="684870"/>
          </a:xfrm>
        </p:spPr>
        <p:txBody>
          <a:bodyPr>
            <a:normAutofit/>
          </a:bodyPr>
          <a:lstStyle/>
          <a:p>
            <a:pPr algn="l"/>
            <a:r>
              <a:rPr lang="en-IN" sz="3200" b="1" dirty="0">
                <a:solidFill>
                  <a:schemeClr val="tx1"/>
                </a:solidFill>
              </a:rPr>
              <a:t>Opportunity data Visualizations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2627A71-7850-4D61-25B3-E31ADA26D8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7725"/>
          <a:stretch>
            <a:fillRect/>
          </a:stretch>
        </p:blipFill>
        <p:spPr>
          <a:xfrm>
            <a:off x="1869860" y="1319439"/>
            <a:ext cx="2937999" cy="24700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125079-C559-50F3-4A78-8AB6BCA92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2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B2B1B2-FBC0-A672-CF2A-08A017C02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E5F3-7E07-4327-9C42-98C7C8FCEC64}" type="slidenum">
              <a:rPr lang="en-IN" smtClean="0"/>
              <a:pPr/>
              <a:t>11</a:t>
            </a:fld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9E42C7-93D0-D8FF-E72D-AD0954CABE11}"/>
              </a:ext>
            </a:extLst>
          </p:cNvPr>
          <p:cNvSpPr txBox="1"/>
          <p:nvPr/>
        </p:nvSpPr>
        <p:spPr>
          <a:xfrm>
            <a:off x="6521604" y="4302263"/>
            <a:ext cx="48701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The chart helps compare overall opportunities with currently active 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Both active and total opportunities increased over the years.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574EC7-D3DF-9B58-686A-6461F6B710B4}"/>
              </a:ext>
            </a:extLst>
          </p:cNvPr>
          <p:cNvSpPr txBox="1"/>
          <p:nvPr/>
        </p:nvSpPr>
        <p:spPr>
          <a:xfrm>
            <a:off x="6486835" y="1631062"/>
            <a:ext cx="478072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In this visualization, opportunities are distributed across won, lost and funnel stages.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Funnel stage shows opportunities that are still under process.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4AB414-0564-17F0-C67D-BBA411903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223" y="4017142"/>
            <a:ext cx="5573040" cy="224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37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3014E-C909-A79D-54B8-D7B9EE6CB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549274"/>
          </a:xfrm>
        </p:spPr>
        <p:txBody>
          <a:bodyPr>
            <a:normAutofit/>
          </a:bodyPr>
          <a:lstStyle/>
          <a:p>
            <a:pPr algn="l"/>
            <a:r>
              <a:rPr lang="en-IN" sz="2900" b="1" dirty="0">
                <a:solidFill>
                  <a:schemeClr val="tx1"/>
                </a:solidFill>
              </a:rPr>
              <a:t>Opportunity Dashboard using Excel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F385CE-B9D5-03E2-75A4-3673584A00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7009" y="914401"/>
            <a:ext cx="10536791" cy="565629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31A954-C01A-C920-26C2-55B63796A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E5F3-7E07-4327-9C42-98C7C8FCEC64}" type="slidenum">
              <a:rPr lang="en-IN" smtClean="0"/>
              <a:t>12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141F146-E372-B3F3-3C5D-42FD511F3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2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003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6902A-6CE1-401A-8190-F358E704F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8113"/>
            <a:ext cx="10515600" cy="675861"/>
          </a:xfrm>
        </p:spPr>
        <p:txBody>
          <a:bodyPr>
            <a:normAutofit/>
          </a:bodyPr>
          <a:lstStyle/>
          <a:p>
            <a:pPr algn="l"/>
            <a:r>
              <a:rPr lang="en-IN" sz="2900" b="1" dirty="0">
                <a:solidFill>
                  <a:schemeClr val="tx1"/>
                </a:solidFill>
              </a:rPr>
              <a:t>Opportunity Dashboard using Tableau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998FC8-DDB5-694A-A287-77AAE9FA9D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5425" y="915992"/>
            <a:ext cx="9201149" cy="563389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95E4A-71D0-E357-D7AF-99C2C9ADA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E5F3-7E07-4327-9C42-98C7C8FCEC64}" type="slidenum">
              <a:rPr lang="en-IN" smtClean="0"/>
              <a:t>13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74D9114-2C7F-9A0F-8AD8-D89832E2A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2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183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DBE93-4996-2402-D84B-E7274B2E1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59214"/>
          </a:xfrm>
        </p:spPr>
        <p:txBody>
          <a:bodyPr>
            <a:normAutofit/>
          </a:bodyPr>
          <a:lstStyle/>
          <a:p>
            <a:pPr algn="l"/>
            <a:r>
              <a:rPr lang="en-IN" sz="2900" b="1" dirty="0">
                <a:solidFill>
                  <a:schemeClr val="tx1"/>
                </a:solidFill>
              </a:rPr>
              <a:t>Opportunity Dashboard using PowerBI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6E1E6-344E-ED7C-3D75-C47F1640E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E5F3-7E07-4327-9C42-98C7C8FCEC64}" type="slidenum">
              <a:rPr lang="en-IN" smtClean="0"/>
              <a:t>14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8DEE140-4894-ED63-0D1C-64DFCE3DF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2</a:t>
            </a:r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776E61-7596-41B5-F1C6-A0E7A8294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713" y="924340"/>
            <a:ext cx="10118573" cy="556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70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9A237-1157-C119-149A-C64A4AA98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762000"/>
          </a:xfrm>
        </p:spPr>
        <p:txBody>
          <a:bodyPr>
            <a:normAutofit/>
          </a:bodyPr>
          <a:lstStyle/>
          <a:p>
            <a:pPr algn="l"/>
            <a:r>
              <a:rPr lang="en-IN" sz="3200" b="1" dirty="0">
                <a:solidFill>
                  <a:schemeClr val="tx1"/>
                </a:solidFill>
              </a:rPr>
              <a:t>SQL Queries for Opportunity data KPIs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BAE98A2-EC9D-D7ED-80E9-62F5FFA022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670" y="1777583"/>
            <a:ext cx="5423676" cy="384147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C09FEE-06D7-C06E-BCF5-9544262E6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676" y="2540312"/>
            <a:ext cx="5652654" cy="1998728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49144E-9163-4552-946E-E8F065211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E5F3-7E07-4327-9C42-98C7C8FCEC64}" type="slidenum">
              <a:rPr lang="en-IN" smtClean="0"/>
              <a:t>15</a:t>
            </a:fld>
            <a:endParaRPr lang="en-IN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00B9CEE-FB98-A9BC-4713-F3C8C870F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2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236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828D4-170D-939E-0FE3-B6AD31B99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200" b="1" dirty="0">
                <a:solidFill>
                  <a:schemeClr val="tx1"/>
                </a:solidFill>
              </a:rPr>
              <a:t>Key Insights from the Opportunity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52B3A-A7E8-DD6B-CF40-DF02ECA2A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IN" sz="2200" dirty="0">
                <a:solidFill>
                  <a:schemeClr val="tx1"/>
                </a:solidFill>
              </a:rPr>
              <a:t>Total expected amount is high.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200" dirty="0">
                <a:solidFill>
                  <a:schemeClr val="tx1"/>
                </a:solidFill>
              </a:rPr>
              <a:t>Loss rate is slightly higher than Win rate.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200" dirty="0">
                <a:solidFill>
                  <a:schemeClr val="tx1"/>
                </a:solidFill>
              </a:rPr>
              <a:t>The Biopharma/Pharmaceuticals industry contributes most to revenue generation.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200" dirty="0">
                <a:solidFill>
                  <a:schemeClr val="tx1"/>
                </a:solidFill>
              </a:rPr>
              <a:t>Active opportunities are high, but progress through stages is slow.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200" dirty="0">
                <a:solidFill>
                  <a:schemeClr val="tx1"/>
                </a:solidFill>
              </a:rPr>
              <a:t>Actual vs. Forecast gap shows prediction issues.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200" dirty="0">
                <a:solidFill>
                  <a:schemeClr val="tx1"/>
                </a:solidFill>
              </a:rPr>
              <a:t>Opportunity trend shows steady growth over time.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28516-F2E4-0058-FA4A-133864D9A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E5F3-7E07-4327-9C42-98C7C8FCEC64}" type="slidenum">
              <a:rPr lang="en-IN" smtClean="0"/>
              <a:t>16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EB5FBA4-F90A-A29B-F548-ABAAB5DC4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2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946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5D82A-F3D6-FB48-3C2E-60AA3174F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200" b="1" dirty="0">
                <a:solidFill>
                  <a:schemeClr val="tx1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D6C84-1830-80E2-7CB6-7777962EF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This analysis project helps identify trends and patterns in lead and opportunity performance. </a:t>
            </a:r>
          </a:p>
          <a:p>
            <a:pPr marL="3690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It also provides understanding of CRM data using key performance indicators, dashboards and visualizations for better business decision-making process. </a:t>
            </a:r>
          </a:p>
          <a:p>
            <a:pPr marL="36900" indent="0">
              <a:buNone/>
            </a:pPr>
            <a:endParaRPr lang="en-IN" sz="2400" dirty="0">
              <a:solidFill>
                <a:schemeClr val="tx1"/>
              </a:solidFill>
            </a:endParaRPr>
          </a:p>
          <a:p>
            <a:pPr marL="36900" indent="0">
              <a:buNone/>
            </a:pPr>
            <a:endParaRPr lang="en-IN" sz="2900" dirty="0">
              <a:solidFill>
                <a:schemeClr val="tx1"/>
              </a:solidFill>
            </a:endParaRPr>
          </a:p>
          <a:p>
            <a:pPr marL="36900" indent="0" algn="ctr">
              <a:buNone/>
            </a:pPr>
            <a:r>
              <a:rPr lang="en-IN" sz="2800" dirty="0">
                <a:solidFill>
                  <a:schemeClr val="tx1"/>
                </a:solidFill>
              </a:rPr>
              <a:t>Thank You!</a:t>
            </a:r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9659D-D14D-FCC2-9B7F-D4279FBE9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E5F3-7E07-4327-9C42-98C7C8FCEC64}" type="slidenum">
              <a:rPr lang="en-IN" smtClean="0"/>
              <a:t>17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CC2C79D-1655-31E6-E429-98FCC641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2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462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43372978-11FE-4814-AC26-BC300187D8C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969</TotalTime>
  <Words>705</Words>
  <Application>Microsoft Office PowerPoint</Application>
  <PresentationFormat>Widescreen</PresentationFormat>
  <Paragraphs>116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Calisto MT</vt:lpstr>
      <vt:lpstr>Courier New</vt:lpstr>
      <vt:lpstr>Wingdings 2</vt:lpstr>
      <vt:lpstr>Slate</vt:lpstr>
      <vt:lpstr>CRM Analytics</vt:lpstr>
      <vt:lpstr>Project Objective</vt:lpstr>
      <vt:lpstr>KPIs for Lead Dashboard</vt:lpstr>
      <vt:lpstr>Lead data Visualizations </vt:lpstr>
      <vt:lpstr>Lead Dashboard using Excel</vt:lpstr>
      <vt:lpstr>Lead Dashboard using Tableau</vt:lpstr>
      <vt:lpstr>Lead Dashboard using PowerBI</vt:lpstr>
      <vt:lpstr>SQL Queries for Lead data KPIs</vt:lpstr>
      <vt:lpstr>Key Insights from the Lead data analysis</vt:lpstr>
      <vt:lpstr>KPIs for Opportunity Dashboard</vt:lpstr>
      <vt:lpstr>Opportunity data Visualizations</vt:lpstr>
      <vt:lpstr>Opportunity Dashboard using Excel</vt:lpstr>
      <vt:lpstr>Opportunity Dashboard using Tableau</vt:lpstr>
      <vt:lpstr>Opportunity Dashboard using PowerBI</vt:lpstr>
      <vt:lpstr>SQL Queries for Opportunity data KPIs</vt:lpstr>
      <vt:lpstr>Key Insights from the Opportunity data analysis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Indu Keoti</dc:creator>
  <cp:lastModifiedBy>Indu Keoti</cp:lastModifiedBy>
  <cp:revision>11</cp:revision>
  <dcterms:created xsi:type="dcterms:W3CDTF">2026-05-06T15:24:28Z</dcterms:created>
  <dcterms:modified xsi:type="dcterms:W3CDTF">2026-05-09T17:11:30Z</dcterms:modified>
</cp:coreProperties>
</file>